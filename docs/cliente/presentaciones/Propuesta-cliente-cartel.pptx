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1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propuesta. Objetivo del encuentro: revisarla juntos y obtener la confirmación para arrancar. Completar el nombre de la empresa antes de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con el cliente que el orden de prioridad es correcto antes de avanzar.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diapositiva clave: acá se entiende de dónde sale el ahorro. Aclarar que es un ejemplo y que el aprovechamiento real se mide en la semana 4 con trabajos propios. Si preguntan por letras corpóreas, engancha con la diapositiva de la semana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pedir la confirmación en la reunión y dejar agendados los tres encuentros de la semana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1234440"/>
            <a:ext cx="4206240" cy="4206240"/>
          </a:xfrm>
          <a:prstGeom prst="ellipse">
            <a:avLst/>
          </a:prstGeom>
          <a:solidFill>
            <a:srgbClr val="E8A33D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480560"/>
            <a:ext cx="2926080" cy="2926080"/>
          </a:xfrm>
          <a:prstGeom prst="ellipse">
            <a:avLst/>
          </a:prstGeom>
          <a:solidFill>
            <a:srgbClr val="E8A33D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TRABAJO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Presupuestos, anidado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automático y aprobación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arma la cotización, acomoda solo las piezas sobre la chapa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llega aprobada al cliente. En dos meses, por etapas.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Anibal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Dumit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Megacarteles</a:t>
            </a:r>
            <a:endParaRPr lang="en-US" sz="15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97764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y Enzo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26948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de agosto de 2026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nos plantearon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puntos concretos, en el orden en que más pesan hoy.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8892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Presupuestar tarda demasiado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3832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cotización se arma a mano, de cero, cada vez.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182880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2148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830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278892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material se desperdicia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33832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acomoda las piezas sobre la plancha a ojo, y eso deja chapa sin usar que se paga igual.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10728" y="182880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2148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07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78892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dashboard actual es lento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33832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Funciona, pero consultarlo todos los días se hace pesado.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FBEFD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846320"/>
            <a:ext cx="99971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2 es el que más impacta el bolsillo: cada punto de aprovechamiento que se gana es chapa que no hace falta comprar.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anidado, en una imagen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plancha y el mismo juego de piezas, acomodados de dos maneras distintas.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48656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acomodado a ojo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39696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las 15 piezas · hace falta una segunda plancha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487168"/>
            <a:ext cx="4608576" cy="1984248"/>
          </a:xfrm>
          <a:prstGeom prst="rect">
            <a:avLst/>
          </a:prstGeom>
          <a:solidFill>
            <a:srgbClr val="C4614E">
              <a:alpha val="78000"/>
            </a:srgbClr>
          </a:solidFill>
          <a:ln w="15875">
            <a:solidFill>
              <a:srgbClr val="4A55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0183" y="2625604"/>
            <a:ext cx="1198230" cy="922906"/>
          </a:xfrm>
          <a:custGeom>
            <a:avLst/>
            <a:gdLst/>
            <a:ahLst/>
            <a:cxnLst/>
            <a:rect l="l" t="t" r="r" b="b"/>
            <a:pathLst>
              <a:path w="1198230" h="922906">
                <a:moveTo>
                  <a:pt x="0" y="0"/>
                </a:moveTo>
                <a:lnTo>
                  <a:pt x="1198230" y="0"/>
                </a:lnTo>
                <a:lnTo>
                  <a:pt x="1198230" y="184581"/>
                </a:lnTo>
                <a:lnTo>
                  <a:pt x="460858" y="184581"/>
                </a:lnTo>
                <a:lnTo>
                  <a:pt x="460858" y="922906"/>
                </a:lnTo>
                <a:lnTo>
                  <a:pt x="0" y="922906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11013" y="2717895"/>
            <a:ext cx="645201" cy="646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72313" y="2879403"/>
            <a:ext cx="322600" cy="323017"/>
          </a:xfrm>
          <a:prstGeom prst="ellipse">
            <a:avLst/>
          </a:prstGeom>
          <a:solidFill>
            <a:srgbClr val="C4614E">
              <a:alpha val="78000"/>
            </a:srgbClr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8814" y="2625604"/>
            <a:ext cx="737372" cy="922906"/>
          </a:xfrm>
          <a:custGeom>
            <a:avLst/>
            <a:gdLst/>
            <a:ahLst/>
            <a:cxnLst/>
            <a:rect l="l" t="t" r="r" b="b"/>
            <a:pathLst>
              <a:path w="737372" h="922906">
                <a:moveTo>
                  <a:pt x="0" y="922906"/>
                </a:moveTo>
                <a:cubicBezTo>
                  <a:pt x="0" y="92291"/>
                  <a:pt x="737372" y="92291"/>
                  <a:pt x="737372" y="922906"/>
                </a:cubicBezTo>
                <a:lnTo>
                  <a:pt x="529986" y="922906"/>
                </a:lnTo>
                <a:cubicBezTo>
                  <a:pt x="529986" y="415308"/>
                  <a:pt x="207386" y="415308"/>
                  <a:pt x="207386" y="922906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4444" y="2671749"/>
            <a:ext cx="921715" cy="830615"/>
          </a:xfrm>
          <a:custGeom>
            <a:avLst/>
            <a:gdLst/>
            <a:ahLst/>
            <a:cxnLst/>
            <a:rect l="l" t="t" r="r" b="b"/>
            <a:pathLst>
              <a:path w="921715" h="830615">
                <a:moveTo>
                  <a:pt x="0" y="0"/>
                </a:moveTo>
                <a:lnTo>
                  <a:pt x="921715" y="0"/>
                </a:lnTo>
                <a:lnTo>
                  <a:pt x="921715" y="276872"/>
                </a:lnTo>
                <a:lnTo>
                  <a:pt x="368686" y="830615"/>
                </a:lnTo>
                <a:lnTo>
                  <a:pt x="0" y="830615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64927" y="3456219"/>
            <a:ext cx="1382573" cy="276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0183" y="3779236"/>
            <a:ext cx="1290401" cy="553744"/>
          </a:xfrm>
          <a:custGeom>
            <a:avLst/>
            <a:gdLst/>
            <a:ahLst/>
            <a:cxnLst/>
            <a:rect l="l" t="t" r="r" b="b"/>
            <a:pathLst>
              <a:path w="1290401" h="553744">
                <a:moveTo>
                  <a:pt x="0" y="0"/>
                </a:moveTo>
                <a:lnTo>
                  <a:pt x="1290401" y="0"/>
                </a:lnTo>
                <a:lnTo>
                  <a:pt x="1290401" y="553744"/>
                </a:lnTo>
                <a:lnTo>
                  <a:pt x="829544" y="553744"/>
                </a:lnTo>
                <a:lnTo>
                  <a:pt x="829544" y="323017"/>
                </a:lnTo>
                <a:lnTo>
                  <a:pt x="460858" y="323017"/>
                </a:lnTo>
                <a:lnTo>
                  <a:pt x="460858" y="553744"/>
                </a:lnTo>
                <a:lnTo>
                  <a:pt x="0" y="55374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57099" y="3871527"/>
            <a:ext cx="829544" cy="461453"/>
          </a:xfrm>
          <a:prstGeom prst="chevron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3157" y="3779236"/>
            <a:ext cx="691286" cy="599889"/>
          </a:xfrm>
          <a:prstGeom prst="hexagon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186" y="4009963"/>
            <a:ext cx="1106058" cy="323017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457200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se ubica suelta, sin aprovechar los huecos que dejan las otras. Lo que sobra queda repartido en recortes chicos que ya no sirven.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1691640"/>
            <a:ext cx="5248656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74536" y="182880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sistema: anidado automático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574536" y="2139696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15 piezas · una sola plancha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74536" y="2487168"/>
            <a:ext cx="4608576" cy="1984248"/>
          </a:xfrm>
          <a:prstGeom prst="rect">
            <a:avLst/>
          </a:prstGeom>
          <a:solidFill>
            <a:srgbClr val="C4614E">
              <a:alpha val="78000"/>
            </a:srgbClr>
          </a:solidFill>
          <a:ln w="15875">
            <a:solidFill>
              <a:srgbClr val="4A55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0622" y="2533313"/>
            <a:ext cx="1198230" cy="922906"/>
          </a:xfrm>
          <a:custGeom>
            <a:avLst/>
            <a:gdLst/>
            <a:ahLst/>
            <a:cxnLst/>
            <a:rect l="l" t="t" r="r" b="b"/>
            <a:pathLst>
              <a:path w="1198230" h="922906">
                <a:moveTo>
                  <a:pt x="0" y="0"/>
                </a:moveTo>
                <a:lnTo>
                  <a:pt x="1198230" y="0"/>
                </a:lnTo>
                <a:lnTo>
                  <a:pt x="1198230" y="184581"/>
                </a:lnTo>
                <a:lnTo>
                  <a:pt x="460858" y="184581"/>
                </a:lnTo>
                <a:lnTo>
                  <a:pt x="460858" y="922906"/>
                </a:lnTo>
                <a:lnTo>
                  <a:pt x="0" y="922906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27565" y="2717895"/>
            <a:ext cx="645201" cy="646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88865" y="2879403"/>
            <a:ext cx="322600" cy="323017"/>
          </a:xfrm>
          <a:prstGeom prst="ellipse">
            <a:avLst/>
          </a:prstGeom>
          <a:solidFill>
            <a:srgbClr val="C4614E">
              <a:alpha val="78000"/>
            </a:srgbClr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4937" y="2533313"/>
            <a:ext cx="737372" cy="922906"/>
          </a:xfrm>
          <a:custGeom>
            <a:avLst/>
            <a:gdLst/>
            <a:ahLst/>
            <a:cxnLst/>
            <a:rect l="l" t="t" r="r" b="b"/>
            <a:pathLst>
              <a:path w="737372" h="922906">
                <a:moveTo>
                  <a:pt x="0" y="922906"/>
                </a:moveTo>
                <a:cubicBezTo>
                  <a:pt x="0" y="92291"/>
                  <a:pt x="737372" y="92291"/>
                  <a:pt x="737372" y="922906"/>
                </a:cubicBezTo>
                <a:lnTo>
                  <a:pt x="529986" y="922906"/>
                </a:lnTo>
                <a:cubicBezTo>
                  <a:pt x="529986" y="415308"/>
                  <a:pt x="207386" y="415308"/>
                  <a:pt x="207386" y="922906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6932" y="3017839"/>
            <a:ext cx="322600" cy="415308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48395" y="2533313"/>
            <a:ext cx="921715" cy="830615"/>
          </a:xfrm>
          <a:custGeom>
            <a:avLst/>
            <a:gdLst/>
            <a:ahLst/>
            <a:cxnLst/>
            <a:rect l="l" t="t" r="r" b="b"/>
            <a:pathLst>
              <a:path w="921715" h="830615">
                <a:moveTo>
                  <a:pt x="0" y="0"/>
                </a:moveTo>
                <a:lnTo>
                  <a:pt x="921715" y="0"/>
                </a:lnTo>
                <a:lnTo>
                  <a:pt x="921715" y="276872"/>
                </a:lnTo>
                <a:lnTo>
                  <a:pt x="368686" y="830615"/>
                </a:lnTo>
                <a:lnTo>
                  <a:pt x="0" y="830615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49341" y="2796342"/>
            <a:ext cx="553029" cy="553744"/>
          </a:xfrm>
          <a:custGeom>
            <a:avLst/>
            <a:gdLst/>
            <a:ahLst/>
            <a:cxnLst/>
            <a:rect l="l" t="t" r="r" b="b"/>
            <a:pathLst>
              <a:path w="553029" h="553744">
                <a:moveTo>
                  <a:pt x="553029" y="0"/>
                </a:moveTo>
                <a:lnTo>
                  <a:pt x="553029" y="553744"/>
                </a:lnTo>
                <a:lnTo>
                  <a:pt x="0" y="55374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16196" y="2533313"/>
            <a:ext cx="1382573" cy="276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16196" y="2856330"/>
            <a:ext cx="691286" cy="599889"/>
          </a:xfrm>
          <a:prstGeom prst="hexagon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99654" y="2764040"/>
            <a:ext cx="599115" cy="738325"/>
          </a:xfrm>
          <a:prstGeom prst="teardrop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0622" y="3502365"/>
            <a:ext cx="1290401" cy="553744"/>
          </a:xfrm>
          <a:custGeom>
            <a:avLst/>
            <a:gdLst/>
            <a:ahLst/>
            <a:cxnLst/>
            <a:rect l="l" t="t" r="r" b="b"/>
            <a:pathLst>
              <a:path w="1290401" h="553744">
                <a:moveTo>
                  <a:pt x="0" y="0"/>
                </a:moveTo>
                <a:lnTo>
                  <a:pt x="1290401" y="0"/>
                </a:lnTo>
                <a:lnTo>
                  <a:pt x="1290401" y="553744"/>
                </a:lnTo>
                <a:lnTo>
                  <a:pt x="829544" y="553744"/>
                </a:lnTo>
                <a:lnTo>
                  <a:pt x="829544" y="323017"/>
                </a:lnTo>
                <a:lnTo>
                  <a:pt x="460858" y="323017"/>
                </a:lnTo>
                <a:lnTo>
                  <a:pt x="460858" y="553744"/>
                </a:lnTo>
                <a:lnTo>
                  <a:pt x="0" y="55374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7109" y="3502365"/>
            <a:ext cx="829544" cy="461453"/>
          </a:xfrm>
          <a:prstGeom prst="chevron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32738" y="3502365"/>
            <a:ext cx="553029" cy="599889"/>
          </a:xfrm>
          <a:prstGeom prst="moon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0622" y="4102254"/>
            <a:ext cx="1106058" cy="323017"/>
          </a:xfrm>
          <a:prstGeom prst="trapezoid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18852" y="4148399"/>
            <a:ext cx="921715" cy="2768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32738" y="4102254"/>
            <a:ext cx="553029" cy="369162"/>
          </a:xfrm>
          <a:prstGeom prst="triangle">
            <a:avLst/>
          </a:prstGeom>
          <a:solidFill>
            <a:srgbClr val="FFFFFF"/>
          </a:solidFill>
          <a:ln w="9525">
            <a:solidFill>
              <a:srgbClr val="7E8B9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16196" y="3548510"/>
            <a:ext cx="1520830" cy="830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entera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574536" y="457200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se mete en el hueco que deja la anterior: las curvas y los ángulos se encastran. Lo que sobra queda junto, en un pedazo entero que se puede volver a usar.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85800" y="5596128"/>
            <a:ext cx="201168" cy="201168"/>
          </a:xfrm>
          <a:prstGeom prst="rect">
            <a:avLst/>
          </a:prstGeom>
          <a:solidFill>
            <a:srgbClr val="C4614E">
              <a:alpha val="78000"/>
            </a:srgbClr>
          </a:solidFill>
          <a:ln w="9525">
            <a:solidFill>
              <a:srgbClr val="4A556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96696" y="55412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 que se desperdicia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893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ilustrativo. Cuánto de lo que cortan son paneles rectos y cuánto formas irregulares lo vemos en la semana 1: de eso depende el alcance del anidado.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les proponemos construir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circuito, desde que se carga el diseño hasta que el presupuesto llega al cliente.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574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90472" y="20391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del diseño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53288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diseñador carga las piezas del cartel, o las importa directo desde CorelDRAW.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0574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9087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20391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Anidado automático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253288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acomoda solo las piezas sobre la chapa, probando entre los formatos que ustedes compran.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0728" y="178308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20574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0391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Cotización completa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53288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presupuesto con su tabla de precios: material, mano de obra, estructura, instalación.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858768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413308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90472" y="41148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 del dueño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4608576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 desde el celular, con un toque, sin instalar nada.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98264" y="3858768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413308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90872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41148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Envío automático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690872" y="4608576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solo al cliente por mail o WhatsApp, con desglose de costos y el fotomontaje.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0728" y="3858768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03336" y="413308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03336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41148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nuevo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403336" y="4608576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el actual por uno que responde al instante, sobre las mismas tablas de hoy.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calcula el sistema se puede corregir a mano, siempre.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aclaraciones importantes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no queden dudas sobre cómo funciona el sistema.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762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fotomontaje es real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889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Tomamos el diseño real del cartel — el mismo que ya cargaron en el sistema — y lo calzamos sobre la foto del frente respetando la perspectiva.</a:t>
            </a:r>
            <a:endParaRPr lang="en-US" sz="1400" dirty="0"/>
          </a:p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se usa solo para retocar luz y sombra, nunca para “dibujar” el cartel.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el cliente ve exactamente su cartel, con su tipografía y su marca, no una aproximación.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919472" cy="3566160"/>
          </a:xfrm>
          <a:prstGeom prst="roundRect">
            <a:avLst>
              <a:gd name="adj" fmla="val 2051"/>
            </a:avLst>
          </a:prstGeom>
          <a:solidFill>
            <a:srgbClr val="1F2C3A"/>
          </a:solidFill>
          <a:ln w="12700">
            <a:solidFill>
              <a:srgbClr val="1F2C3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95160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1762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cambia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7889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sigue revisando y aprobando cada presupuesto.</a:t>
            </a:r>
            <a:endParaRPr lang="en-US" sz="1400" dirty="0"/>
          </a:p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no es algo que el sistema le saca: es el control de calidad del negocio.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hacemos más rápido, no lo salteamos.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ganan con esto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concretos, medibles contra cómo trabajan hoy.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41832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horas para armar un presupuesto.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71216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127248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chapa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desperdiciada: plata directa en cada plancha que no se compra de más.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56632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312664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espera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aprobación: un toque desde el celular, estén donde estén.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2048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0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instante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que responde sin hacer esperar.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27464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83496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Siempre editable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683496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número del sistema se corrige a mano.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70916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97280" y="470916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arrancar medimos cuánto tardan hoy en armar un presupuesto y cuánto rinde el método actual. </a:t>
            </a:r>
            <a:r>
              <a:rPr lang="en-US" sz="14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en la semana 4 les mostramos la mejora con números propios, no con una promesa genérica.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reciben: plan de 2 meses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en etapas que ya se pueden usar apenas están listas, no todo junto al final.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EAEEF2"/>
          </a:solidFill>
          <a:ln w="12700">
            <a:solidFill>
              <a:srgbClr val="E0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888236"/>
            <a:ext cx="365760" cy="365760"/>
          </a:xfrm>
          <a:prstGeom prst="ellipse">
            <a:avLst/>
          </a:prstGeom>
          <a:solidFill>
            <a:srgbClr val="C6D0D9"/>
          </a:solidFill>
          <a:ln w="12700">
            <a:solidFill>
              <a:srgbClr val="C6D0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8882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78308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783080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con ustedes y ambiente técnico listo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41448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86968" y="254660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25466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244144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— Cotizador con anidado automático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441448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Cargan las piezas, el sistema arma el anidado, dice cuántas planchas hacen falta y el % de aprovechamiento, y genera el presupuesto en 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099816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20497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320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3099816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 — Aprobación y envío automático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099816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aprueba desde el celular; al aprobar, el presupuesto sale solo al cliente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758184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" y="386334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99032" y="3758184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 — Importación desde CorelDRAW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758184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sale de Corel y entra al sistema sin cargar medidas a mano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416552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86968" y="4521708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68" y="45217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99032" y="4416552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rápido (en paralelo)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4416552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del dashboard actual, mismas tablas, respuesta instantánea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074920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6968" y="518007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" y="51800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99032" y="507492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4 — Fotomontaje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5074920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incluye la foto del cartel montado en el frente real del local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" y="5733288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EAEEF2"/>
          </a:solidFill>
          <a:ln w="12700">
            <a:solidFill>
              <a:srgbClr val="E0E6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" y="5838444"/>
            <a:ext cx="365760" cy="365760"/>
          </a:xfrm>
          <a:prstGeom prst="ellipse">
            <a:avLst/>
          </a:prstGeom>
          <a:solidFill>
            <a:srgbClr val="C6D0D9"/>
          </a:solidFill>
          <a:ln w="12700">
            <a:solidFill>
              <a:srgbClr val="C6D0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6968" y="5838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399032" y="573328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5394960" y="5733288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datos reales, ajustes finos y sistema funcionando en producción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291840" cy="3291840"/>
          </a:xfrm>
          <a:prstGeom prst="ellipse">
            <a:avLst/>
          </a:prstGeom>
          <a:solidFill>
            <a:srgbClr val="E8A33D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semana 4 es un punto de control real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les pedimos confianza a ciegas: hay un momento fijado para verificar el ahorro.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532120" cy="3063240"/>
          </a:xfrm>
          <a:prstGeom prst="roundRect">
            <a:avLst>
              <a:gd name="adj" fmla="val 2388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Probamos contra trabajos que ya hicieron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semana 4 corremos el anidado automático sobre presupuestos reales que ustedes ya cotizaron y comparamos el aprovechamiento.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ahorro de material no se nota, lo ajustamos en el momento — antes de seguir construyendo encima.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0" y="2148840"/>
            <a:ext cx="4919472" cy="3063240"/>
          </a:xfrm>
          <a:prstGeom prst="roundRect">
            <a:avLst>
              <a:gd name="adj" fmla="val 2388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9516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Letras corpóreas y formas curvas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306324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el relevamiento de la semana 1 vemos que buena parte de lo que cortan son formas irregulares y no paneles rectos, el anidado para esos casos se suma como una segunda etapa, después de estos dos meses.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vamos a saber en la primera semana y lo conversamos apenas lo sepamos.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44068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resolver primero lo que aplica a la mayoría del trabajo.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ustedes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 no podemos probar el sistema contra la realidad de su taller.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01168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SEMANA 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77440"/>
            <a:ext cx="2843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precios actual por m² de cada material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planchas que compran, con medidas y espesores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material come el corte y qué margen dejan en el borde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10 presupuestos ya hechos, con el detalle de cómo se armaron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aprueba cada presupuesto, y desde dónde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98264" y="178308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90872" y="201168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SEMANA 6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2377440"/>
            <a:ext cx="2843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 de archivos .cdr de ejemplo, de distinta complejidad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versión de CorelDRAW usan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diseño ordene los archivos en capas: nosotros damos la convención, ellos la aplican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0728" y="178308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03336" y="201168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SEMANA 7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377440"/>
            <a:ext cx="2843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los frentes de locales típicos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534924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FBEFD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349240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 cuanto antes:  </a:t>
            </a:r>
            <a:r>
              <a:rPr lang="en-US" sz="1350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van a mandar los presupuestos por WhatsApp, hay que iniciar el alta de WhatsApp Business ya mismo — el trámite tarda semanas. Arranca en paralelo desde el primer día; si no llega a tiempo, el Hito 2 sale igual por mail y WhatsApp se suma después.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incluye esta primera etapa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dejamos claro desde ahora para que no aparezca como sorpresa más adelante.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975104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83080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cobranzas — esto es un cotizador, no un sistema contable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783080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975104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12864" y="1783080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 real de material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569464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2761488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2569464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las órdenes dentro del taller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54496" y="2569464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2761488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0528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12864" y="2569464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archivos para la máquina de corte — el sistema da el plano de corte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355848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" y="3547872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44168" y="3355848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para instalar en el celular — la aprobación va por navegador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54496" y="3355848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3547872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0528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355848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una sucursal o empresa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4142232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4334256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1832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344168" y="4142232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del historial de presupuestos viejos — el sistema arranca vacío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" y="525780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1F2C3A"/>
          </a:solidFill>
          <a:ln w="12700">
            <a:solidFill>
              <a:srgbClr val="1F2C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97280" y="52578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está descartado para más adelante — solo no es parte de estos dos meses.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 con ustedes en el camino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sorpresas y sin apagar nada de un día para el otro.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2140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Encuentros cortos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 o cada dos, para mostrar avance y ajustar el rumbo.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4496" y="182880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4536" y="212140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7453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23176" y="210312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datos de ustedes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69748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hito se muestra funcionando con datos reales del taller, no inventados.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2452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0624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paralelo al método actual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80060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nuevo convive con la forma de trabajo de hoy hasta que confíen en los números.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54496" y="393192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4536" y="422452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74536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23176" y="420624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una caja negra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574536" y="480060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puede corregir a mano y siempre se ve cuál era el valor original.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por hito, contra la entrega de cada uno. No pedimos anticipo.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480560" cy="2148840"/>
          </a:xfrm>
          <a:prstGeom prst="roundRect">
            <a:avLst>
              <a:gd name="adj" fmla="val 3404"/>
            </a:avLst>
          </a:prstGeom>
          <a:solidFill>
            <a:srgbClr val="141C26"/>
          </a:solidFill>
          <a:ln w="12700">
            <a:solidFill>
              <a:srgbClr val="141C26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COMPLETO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$2.000.000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argentinos (ARS)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4069080"/>
            <a:ext cx="4480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 la mayor parte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572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motor de anidado: el algoritmo que decide cómo ubicar cada forma sobre la plancha. Es el desarrollo técnico más complejo de estos dos meses, y es justo el problema que hoy más material les hace perder.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32120" y="1783080"/>
            <a:ext cx="5973775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8978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304288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232257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— Cotizador con anidado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3225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3225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$920.000   ·   46%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2871216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880" y="28895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 — Aprobación y envío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88950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8895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$230.000   ·   11,5%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97880" y="3438144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97880" y="34564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 — Importación desde Corel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549640" y="34564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456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$310.000   ·   15,5%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4005072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9788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rápido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549640" y="40233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$270.000   ·   13,5%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4572000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97880" y="4590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4 — Fotomontaje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549640" y="45902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4590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$270.000   ·   13,5%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5157216"/>
            <a:ext cx="5242255" cy="548640"/>
          </a:xfrm>
          <a:prstGeom prst="roundRect">
            <a:avLst>
              <a:gd name="adj" fmla="val 10000"/>
            </a:avLst>
          </a:prstGeom>
          <a:solidFill>
            <a:srgbClr val="FBEFD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26480" y="5157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51572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$2.000.000   ·   100%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59893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Aparte del desarrollo: hosting, dominio, WhatsApp Business API y el servicio de IA del fotomontaje corren por cuenta de la empresa. Nosotros los dejamos configurados.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05840"/>
            <a:ext cx="3657600" cy="3657600"/>
          </a:xfrm>
          <a:prstGeom prst="ellipse">
            <a:avLst/>
          </a:prstGeom>
          <a:solidFill>
            <a:srgbClr val="E8A33D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falta para arrancar la semana que viene.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dan el OK para arrancar.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02152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Coordinamos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encuentros cortos la primera semana: dueño y administración, encargado de taller, y diseño. No más de un par de horas en total.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18504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1112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11112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acercan la lista de precios, los formatos de plancha y los presupuestos de ejemplo.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27464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27464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Arrancamos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427464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1: relevamiento y ambiente técnico listo.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846320"/>
            <a:ext cx="1082009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728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Confirmación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cargo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97280" y="5806440"/>
            <a:ext cx="3291840" cy="12802"/>
          </a:xfrm>
          <a:prstGeom prst="rect">
            <a:avLst/>
          </a:prstGeom>
          <a:solidFill>
            <a:srgbClr val="B9C4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5806440"/>
            <a:ext cx="2651760" cy="12802"/>
          </a:xfrm>
          <a:prstGeom prst="rect">
            <a:avLst/>
          </a:prstGeom>
          <a:solidFill>
            <a:srgbClr val="B9C4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para arrancar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5806440"/>
            <a:ext cx="3291840" cy="12802"/>
          </a:xfrm>
          <a:prstGeom prst="rect">
            <a:avLst/>
          </a:prstGeom>
          <a:solidFill>
            <a:srgbClr val="B9C4CE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1798</Words>
  <Application>Microsoft Office PowerPoint</Application>
  <PresentationFormat>Panorámica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trabajo: presupuestos, anidado automatico y aprobacion</dc:title>
  <dc:subject>PptxGenJS Presentation</dc:subject>
  <dc:creator>Enzo Pazzelli y Vale</dc:creator>
  <cp:lastModifiedBy>Enzo Jose Pazzelli</cp:lastModifiedBy>
  <cp:revision>2</cp:revision>
  <dcterms:created xsi:type="dcterms:W3CDTF">2026-09-01T18:43:00Z</dcterms:created>
  <dcterms:modified xsi:type="dcterms:W3CDTF">2026-09-01T18:46:49Z</dcterms:modified>
</cp:coreProperties>
</file>