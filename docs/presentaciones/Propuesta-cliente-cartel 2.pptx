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6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5479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la propuesta. Objetivo del encuentro: revisarla juntos y obtener la confirmación para arrancar. Completar el nombre de la empresa antes de presentar.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Confirmar con el cliente que el orden de prioridad es correcto antes de avanzar.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la diapositiva clave: acá se entiende de dónde sale el ahorro. Aclarar que el dibujo es un ejemplo y que los números propios salen en la semana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pedir la confirmación en la reunión y dejar agendados los tres encuentros de la semana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C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64040" y="-1234440"/>
            <a:ext cx="4206240" cy="4206240"/>
          </a:xfrm>
          <a:prstGeom prst="ellipse">
            <a:avLst/>
          </a:prstGeom>
          <a:solidFill>
            <a:srgbClr val="E8A33D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0" y="4480560"/>
            <a:ext cx="2926080" cy="2926080"/>
          </a:xfrm>
          <a:prstGeom prst="ellipse">
            <a:avLst/>
          </a:prstGeom>
          <a:solidFill>
            <a:srgbClr val="E8A33D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TRABAJO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8503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Presupuestos, anidado</a:t>
            </a:r>
            <a:endParaRPr lang="en-US" sz="44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automático y aprobación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749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C3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que arma la cotización, acomoda solo las piezas sobre la chapa</a:t>
            </a:r>
            <a:endParaRPr lang="en-US" sz="16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C3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llega aprobada al cliente. En dos meses, por etapas.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50749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53492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Anibal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Dumit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Megacarteles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977640" y="50749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977640" y="53492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y Enzo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269480" y="50749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53492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de agosto de 2026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que nos plantearon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97280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puntos concretos, en el orden en que más pesan hoy.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392424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48840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788920"/>
            <a:ext cx="2752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Presupuestar tarda demasiado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383280"/>
            <a:ext cx="2752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cotización se arma a mano, de cero, cada vez.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98264" y="1828800"/>
            <a:ext cx="3392424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18304" y="2148840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18304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718304" y="2788920"/>
            <a:ext cx="2752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material se desperdicia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718304" y="3383280"/>
            <a:ext cx="2752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Alguien acomoda las piezas sobre la plancha a ojo, y eso deja chapa sin usar que se paga igual.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10728" y="1828800"/>
            <a:ext cx="3392424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30768" y="2148840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30768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430768" y="2788920"/>
            <a:ext cx="2752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dashboard actual es lento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430768" y="3383280"/>
            <a:ext cx="2752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Funciona, pero consultarlo todos los días se hace pesado.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85800" y="4846320"/>
            <a:ext cx="10820095" cy="1051560"/>
          </a:xfrm>
          <a:prstGeom prst="roundRect">
            <a:avLst>
              <a:gd name="adj" fmla="val 6957"/>
            </a:avLst>
          </a:prstGeom>
          <a:solidFill>
            <a:srgbClr val="FBEFDC"/>
          </a:solidFill>
          <a:ln w="12700">
            <a:solidFill>
              <a:srgbClr val="F0DCB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97280" y="4846320"/>
            <a:ext cx="99971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5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2 es el que más impacta el bolsillo: cada punto de aprovechamiento que se gana es chapa que no hace falta comprar.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anidado, en una imagen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97280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plancha y el mismo juego de piezas, acomodados de dos maneras distintas.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248656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1920240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Hoy: acomodado a ojo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212848"/>
            <a:ext cx="4608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de las 14 piezas · 53% de la plancha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05840" y="2578608"/>
            <a:ext cx="4608576" cy="1655064"/>
          </a:xfrm>
          <a:prstGeom prst="rect">
            <a:avLst/>
          </a:prstGeom>
          <a:solidFill>
            <a:srgbClr val="C4614E">
              <a:alpha val="78000"/>
            </a:srgbClr>
          </a:solidFill>
          <a:ln w="15875">
            <a:solidFill>
              <a:srgbClr val="4A55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6269" y="2716530"/>
            <a:ext cx="691286" cy="827532"/>
          </a:xfrm>
          <a:prstGeom prst="rect">
            <a:avLst/>
          </a:prstGeom>
          <a:solidFill>
            <a:srgbClr val="FFFFFF"/>
          </a:solidFill>
          <a:ln w="9525">
            <a:solidFill>
              <a:srgbClr val="8E9B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57984" y="2716530"/>
            <a:ext cx="1566916" cy="413766"/>
          </a:xfrm>
          <a:prstGeom prst="rect">
            <a:avLst/>
          </a:prstGeom>
          <a:solidFill>
            <a:srgbClr val="FFFFFF"/>
          </a:solidFill>
          <a:ln w="9525">
            <a:solidFill>
              <a:srgbClr val="8E9B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70986" y="2716530"/>
            <a:ext cx="276515" cy="551688"/>
          </a:xfrm>
          <a:prstGeom prst="rect">
            <a:avLst/>
          </a:prstGeom>
          <a:solidFill>
            <a:srgbClr val="FFFFFF"/>
          </a:solidFill>
          <a:ln w="9525">
            <a:solidFill>
              <a:srgbClr val="8E9BA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85757" y="2762504"/>
            <a:ext cx="1198230" cy="459740"/>
          </a:xfrm>
          <a:prstGeom prst="rect">
            <a:avLst/>
          </a:prstGeom>
          <a:solidFill>
            <a:srgbClr val="FFFFFF"/>
          </a:solidFill>
          <a:ln w="9525">
            <a:solidFill>
              <a:srgbClr val="8E9BA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57984" y="3268218"/>
            <a:ext cx="1566916" cy="597662"/>
          </a:xfrm>
          <a:prstGeom prst="rect">
            <a:avLst/>
          </a:prstGeom>
          <a:solidFill>
            <a:srgbClr val="FFFFFF"/>
          </a:solidFill>
          <a:ln w="9525">
            <a:solidFill>
              <a:srgbClr val="8E9B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47500" y="3452114"/>
            <a:ext cx="553029" cy="551688"/>
          </a:xfrm>
          <a:prstGeom prst="rect">
            <a:avLst/>
          </a:prstGeom>
          <a:solidFill>
            <a:srgbClr val="FFFFFF"/>
          </a:solidFill>
          <a:ln w="9525">
            <a:solidFill>
              <a:srgbClr val="8E9B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84872" y="3452114"/>
            <a:ext cx="599115" cy="551688"/>
          </a:xfrm>
          <a:prstGeom prst="rect">
            <a:avLst/>
          </a:prstGeom>
          <a:solidFill>
            <a:srgbClr val="FFFFFF"/>
          </a:solidFill>
          <a:ln w="9525">
            <a:solidFill>
              <a:srgbClr val="8E9B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90183" y="3636010"/>
            <a:ext cx="921715" cy="551688"/>
          </a:xfrm>
          <a:prstGeom prst="rect">
            <a:avLst/>
          </a:prstGeom>
          <a:solidFill>
            <a:srgbClr val="FFFFFF"/>
          </a:solidFill>
          <a:ln w="9525">
            <a:solidFill>
              <a:srgbClr val="8E9BA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4370832"/>
            <a:ext cx="4608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que no entraron van a una segunda plancha, y lo que sobra en esta queda repartido en recortes chicos que ya no sirven.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54496" y="1783080"/>
            <a:ext cx="5248656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574536" y="1920240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sistema: anidado automático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574536" y="2212848"/>
            <a:ext cx="4608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14 piezas · 88% de la plancha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74536" y="2578608"/>
            <a:ext cx="4608576" cy="1655064"/>
          </a:xfrm>
          <a:prstGeom prst="rect">
            <a:avLst/>
          </a:prstGeom>
          <a:solidFill>
            <a:srgbClr val="C4614E">
              <a:alpha val="78000"/>
            </a:srgbClr>
          </a:solidFill>
          <a:ln w="15875">
            <a:solidFill>
              <a:srgbClr val="4A55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74536" y="2578608"/>
            <a:ext cx="691286" cy="827532"/>
          </a:xfrm>
          <a:prstGeom prst="rect">
            <a:avLst/>
          </a:prstGeom>
          <a:solidFill>
            <a:srgbClr val="FFFFFF"/>
          </a:solidFill>
          <a:ln w="9525">
            <a:solidFill>
              <a:srgbClr val="8E9BA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74536" y="3406140"/>
            <a:ext cx="691286" cy="827532"/>
          </a:xfrm>
          <a:prstGeom prst="rect">
            <a:avLst/>
          </a:prstGeom>
          <a:solidFill>
            <a:srgbClr val="FFFFFF"/>
          </a:solidFill>
          <a:ln w="9525">
            <a:solidFill>
              <a:srgbClr val="8E9BA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65822" y="2578608"/>
            <a:ext cx="1566916" cy="413766"/>
          </a:xfrm>
          <a:prstGeom prst="rect">
            <a:avLst/>
          </a:prstGeom>
          <a:solidFill>
            <a:srgbClr val="FFFFFF"/>
          </a:solidFill>
          <a:ln w="9525">
            <a:solidFill>
              <a:srgbClr val="8E9BA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65822" y="2992374"/>
            <a:ext cx="829544" cy="643636"/>
          </a:xfrm>
          <a:prstGeom prst="rect">
            <a:avLst/>
          </a:prstGeom>
          <a:solidFill>
            <a:srgbClr val="FFFFFF"/>
          </a:solidFill>
          <a:ln w="9525">
            <a:solidFill>
              <a:srgbClr val="8E9BA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95366" y="2992374"/>
            <a:ext cx="737372" cy="643636"/>
          </a:xfrm>
          <a:prstGeom prst="rect">
            <a:avLst/>
          </a:prstGeom>
          <a:solidFill>
            <a:srgbClr val="FFFFFF"/>
          </a:solidFill>
          <a:ln w="9525">
            <a:solidFill>
              <a:srgbClr val="8E9BA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65822" y="3636010"/>
            <a:ext cx="1566916" cy="597662"/>
          </a:xfrm>
          <a:prstGeom prst="rect">
            <a:avLst/>
          </a:prstGeom>
          <a:solidFill>
            <a:srgbClr val="FFFFFF"/>
          </a:solidFill>
          <a:ln w="9525">
            <a:solidFill>
              <a:srgbClr val="8E9BA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832738" y="2578608"/>
            <a:ext cx="1198230" cy="459740"/>
          </a:xfrm>
          <a:prstGeom prst="rect">
            <a:avLst/>
          </a:prstGeom>
          <a:solidFill>
            <a:srgbClr val="FFFFFF"/>
          </a:solidFill>
          <a:ln w="9525">
            <a:solidFill>
              <a:srgbClr val="8E9BA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32738" y="3038348"/>
            <a:ext cx="921715" cy="551688"/>
          </a:xfrm>
          <a:prstGeom prst="rect">
            <a:avLst/>
          </a:prstGeom>
          <a:solidFill>
            <a:srgbClr val="FFFFFF"/>
          </a:solidFill>
          <a:ln w="9525">
            <a:solidFill>
              <a:srgbClr val="8E9BA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54453" y="3038348"/>
            <a:ext cx="276515" cy="551688"/>
          </a:xfrm>
          <a:prstGeom prst="rect">
            <a:avLst/>
          </a:prstGeom>
          <a:solidFill>
            <a:srgbClr val="FFFFFF"/>
          </a:solidFill>
          <a:ln w="9525">
            <a:solidFill>
              <a:srgbClr val="8E9BA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32738" y="3590036"/>
            <a:ext cx="1198230" cy="643636"/>
          </a:xfrm>
          <a:prstGeom prst="rect">
            <a:avLst/>
          </a:prstGeom>
          <a:solidFill>
            <a:srgbClr val="FFFFFF"/>
          </a:solidFill>
          <a:ln w="9525">
            <a:solidFill>
              <a:srgbClr val="8E9BA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030968" y="2578608"/>
            <a:ext cx="645201" cy="413766"/>
          </a:xfrm>
          <a:prstGeom prst="rect">
            <a:avLst/>
          </a:prstGeom>
          <a:solidFill>
            <a:srgbClr val="FFFFFF"/>
          </a:solidFill>
          <a:ln w="9525">
            <a:solidFill>
              <a:srgbClr val="8E9BA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676169" y="2578608"/>
            <a:ext cx="506943" cy="413766"/>
          </a:xfrm>
          <a:prstGeom prst="rtTriangle">
            <a:avLst/>
          </a:prstGeom>
          <a:solidFill>
            <a:srgbClr val="FFFFFF"/>
          </a:solidFill>
          <a:ln w="9525">
            <a:solidFill>
              <a:srgbClr val="8E9BA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030968" y="2992374"/>
            <a:ext cx="553029" cy="551688"/>
          </a:xfrm>
          <a:prstGeom prst="rect">
            <a:avLst/>
          </a:prstGeom>
          <a:solidFill>
            <a:srgbClr val="FFFFFF"/>
          </a:solidFill>
          <a:ln w="9525">
            <a:solidFill>
              <a:srgbClr val="8E9BA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583997" y="2992374"/>
            <a:ext cx="599115" cy="551688"/>
          </a:xfrm>
          <a:prstGeom prst="rect">
            <a:avLst/>
          </a:prstGeom>
          <a:solidFill>
            <a:srgbClr val="FFFFFF"/>
          </a:solidFill>
          <a:ln w="9525">
            <a:solidFill>
              <a:srgbClr val="8E9BA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030968" y="3544062"/>
            <a:ext cx="1152144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entera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6574536" y="4370832"/>
            <a:ext cx="4608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Entran todas en una sola plancha y lo que sobra queda junto, en un pedazo entero que se puede volver a usar.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85800" y="5504688"/>
            <a:ext cx="201168" cy="201168"/>
          </a:xfrm>
          <a:prstGeom prst="rect">
            <a:avLst/>
          </a:prstGeom>
          <a:solidFill>
            <a:srgbClr val="C4614E">
              <a:alpha val="78000"/>
            </a:srgbClr>
          </a:solidFill>
          <a:ln w="9525">
            <a:solidFill>
              <a:srgbClr val="4A556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96696" y="544982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Chapa que se desperdicia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685800" y="594360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ilustrativo para mostrar la idea. El aprovechamiento real lo medimos en la semana 4, con trabajos que ustedes ya hicieron.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les proponemos construir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97280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circuito, desde que se carga el diseño hasta que el presupuesto llega al cliente.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339242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78408" y="2057400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90472" y="2039112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 del diseño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532888"/>
            <a:ext cx="2807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diseñador carga las piezas del cartel, o las importa directo desde CorelDRAW.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98264" y="1783080"/>
            <a:ext cx="339242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90872" y="2057400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90872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202936" y="2039112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Anidado automático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90872" y="2532888"/>
            <a:ext cx="2807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acomoda solo las piezas sobre la chapa, probando entre los formatos que ustedes compran.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10728" y="1783080"/>
            <a:ext cx="339242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03336" y="2057400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03336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915400" y="2039112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Cotización completa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403336" y="2532888"/>
            <a:ext cx="2807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 el presupuesto con su tabla de precios: material, mano de obra, estructura, instalación.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3858768"/>
            <a:ext cx="339242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78408" y="4133088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8408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490472" y="4114800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Aprobación del dueño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978408" y="4608576"/>
            <a:ext cx="2807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 desde el celular, con un toque, sin instalar nada.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98264" y="3858768"/>
            <a:ext cx="339242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90872" y="4133088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90872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202936" y="4114800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Envío automático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4690872" y="4608576"/>
            <a:ext cx="2807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solo al cliente por mail o WhatsApp, con desglose de costos y el fotomontaje.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10728" y="3858768"/>
            <a:ext cx="339242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03336" y="4133088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403336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915400" y="4114800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nuevo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8403336" y="4608576"/>
            <a:ext cx="2807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Reemplazamos el actual por uno que responde al instante, sobre las mismas tablas de hoy.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594360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calcula el sistema se puede corregir a mano, siempre.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aclaraciones importantes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97280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no queden dudas sobre cómo funciona el sistema.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5321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194560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176272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fotomontaje es real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78892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Tomamos el diseño real del cartel — el mismo que ya cargaron en el sistema — y lo calzamos sobre la foto del frente respetando la perspectiva.</a:t>
            </a:r>
            <a:endParaRPr lang="en-US" sz="1400" dirty="0"/>
          </a:p>
          <a:p>
            <a:pPr marL="0" indent="0">
              <a:lnSpc>
                <a:spcPts val="21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se usa solo para retocar luz y sombra, nunca para “dibujar” el cartel.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el cliente ve exactamente su cartel, con su tipografía y su marca, no una aproximación.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83680" y="1828800"/>
            <a:ext cx="4919472" cy="3566160"/>
          </a:xfrm>
          <a:prstGeom prst="roundRect">
            <a:avLst>
              <a:gd name="adj" fmla="val 2051"/>
            </a:avLst>
          </a:prstGeom>
          <a:solidFill>
            <a:srgbClr val="1F2C3A"/>
          </a:solidFill>
          <a:ln w="12700">
            <a:solidFill>
              <a:srgbClr val="1F2C3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995160" y="2194560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95160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543800" y="217627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no cambia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6995160" y="2788920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dueño sigue revisando y aprobando cada presupuesto.</a:t>
            </a:r>
            <a:endParaRPr lang="en-US" sz="1400" dirty="0"/>
          </a:p>
          <a:p>
            <a:pPr marL="0" indent="0">
              <a:lnSpc>
                <a:spcPts val="21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C3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 no es algo que el sistema le saca: es el control de calidad del negocio.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3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hacemos más rápido, no lo salteamos.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ganan con esto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97280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concretos, medibles contra cómo trabajan hoy.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2057400" cy="25146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41832" y="2194560"/>
            <a:ext cx="1545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B87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Minutos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41832" y="3063240"/>
            <a:ext cx="1545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vez de horas para armar un presupuesto.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71216" y="1874520"/>
            <a:ext cx="2057400" cy="25146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127248" y="2194560"/>
            <a:ext cx="1545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B87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Menos chapa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127248" y="3063240"/>
            <a:ext cx="1545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desperdiciada: plata directa en cada plancha que no se compra de más.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56632" y="1874520"/>
            <a:ext cx="2057400" cy="25146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312664" y="2194560"/>
            <a:ext cx="1545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B87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Cero espera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312664" y="3063240"/>
            <a:ext cx="1545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aprobación: un toque desde el celular, estén donde estén.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242048" y="1874520"/>
            <a:ext cx="2057400" cy="25146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498080" y="2194560"/>
            <a:ext cx="1545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B87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 instante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0" y="3063240"/>
            <a:ext cx="1545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dashboard que responde sin hacer esperar.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427464" y="1874520"/>
            <a:ext cx="2057400" cy="25146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683496" y="2194560"/>
            <a:ext cx="1545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B87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Siempre editable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9683496" y="3063240"/>
            <a:ext cx="1545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número del sistema se corrige a mano.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4709160"/>
            <a:ext cx="10820095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097280" y="4709160"/>
            <a:ext cx="99971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arrancar medimos cuánto tardan hoy en armar un presupuesto y cuánto rinde el método actual. </a:t>
            </a:r>
            <a:r>
              <a:rPr lang="en-US" sz="14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en la semana 4 les mostramos la mejora con números propios, no con una promesa genérica.</a:t>
            </a:r>
            <a:endParaRPr lang="en-US" sz="14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lo reciben: plan de 2 meses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97280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entrega en etapas que ya se pueden usar apenas están listas, no todo junto al final.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820095" cy="576072"/>
          </a:xfrm>
          <a:prstGeom prst="roundRect">
            <a:avLst>
              <a:gd name="adj" fmla="val 12698"/>
            </a:avLst>
          </a:prstGeom>
          <a:solidFill>
            <a:srgbClr val="EAEEF2"/>
          </a:solidFill>
          <a:ln w="12700">
            <a:solidFill>
              <a:srgbClr val="E0E6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1888236"/>
            <a:ext cx="365760" cy="365760"/>
          </a:xfrm>
          <a:prstGeom prst="ellipse">
            <a:avLst/>
          </a:prstGeom>
          <a:solidFill>
            <a:srgbClr val="C6D0D9"/>
          </a:solidFill>
          <a:ln w="12700">
            <a:solidFill>
              <a:srgbClr val="C6D0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86968" y="18882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66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99032" y="1783080"/>
            <a:ext cx="3886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Arranque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394960" y="1783080"/>
            <a:ext cx="588233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Relevamiento con ustedes y ambiente técnico listo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2441448"/>
            <a:ext cx="10820095" cy="576072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86968" y="2546604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86968" y="25466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399032" y="2441448"/>
            <a:ext cx="3886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1 — Cotizador con anidado automático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2441448"/>
            <a:ext cx="588233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Cargan las piezas, el sistema arma el anidado, dice cuántas planchas hacen falta y el % de aprovechamiento, y genera el presupuesto en PDF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099816"/>
            <a:ext cx="10820095" cy="576072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86968" y="3204972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86968" y="32049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399032" y="3099816"/>
            <a:ext cx="3886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2 — Aprobación y envío automático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3099816"/>
            <a:ext cx="588233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dueño aprueba desde el celular; al aprobar, el presupuesto sale solo al cliente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3758184"/>
            <a:ext cx="10820095" cy="576072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86968" y="3863340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86968" y="38633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399032" y="3758184"/>
            <a:ext cx="3886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3 — Importación desde CorelDRAW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394960" y="3758184"/>
            <a:ext cx="588233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diseño sale de Corel y entra al sistema sin cargar medidas a mano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4416552"/>
            <a:ext cx="10820095" cy="576072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86968" y="4521708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86968" y="45217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399032" y="4416552"/>
            <a:ext cx="3886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rápido (en paralelo)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5394960" y="4416552"/>
            <a:ext cx="588233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Reemplazo del dashboard actual, mismas tablas, respuesta instantánea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5800" y="5074920"/>
            <a:ext cx="10820095" cy="576072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86968" y="5180076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86968" y="51800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399032" y="5074920"/>
            <a:ext cx="3886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4 — Fotomontaje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5394960" y="5074920"/>
            <a:ext cx="588233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presupuesto incluye la foto del cartel montado en el frente real del local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85800" y="5733288"/>
            <a:ext cx="10820095" cy="576072"/>
          </a:xfrm>
          <a:prstGeom prst="roundRect">
            <a:avLst>
              <a:gd name="adj" fmla="val 12698"/>
            </a:avLst>
          </a:prstGeom>
          <a:solidFill>
            <a:srgbClr val="EAEEF2"/>
          </a:solidFill>
          <a:ln w="12700">
            <a:solidFill>
              <a:srgbClr val="E0E6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86968" y="5838444"/>
            <a:ext cx="365760" cy="365760"/>
          </a:xfrm>
          <a:prstGeom prst="ellipse">
            <a:avLst/>
          </a:prstGeom>
          <a:solidFill>
            <a:srgbClr val="C6D0D9"/>
          </a:solidFill>
          <a:ln w="12700">
            <a:solidFill>
              <a:srgbClr val="C6D0D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86968" y="58384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66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399032" y="5733288"/>
            <a:ext cx="3886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5394960" y="5733288"/>
            <a:ext cx="588233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con datos reales, ajustes finos y sistema funcionando en producción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C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120640"/>
            <a:ext cx="3291840" cy="3291840"/>
          </a:xfrm>
          <a:prstGeom prst="ellipse">
            <a:avLst/>
          </a:prstGeom>
          <a:solidFill>
            <a:srgbClr val="E8A33D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77724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semana 4 es un punto de control real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les pedimos confianza a ciegas: hay un momento fijado para verificar el ahorro.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5532120" cy="3063240"/>
          </a:xfrm>
          <a:prstGeom prst="roundRect">
            <a:avLst>
              <a:gd name="adj" fmla="val 2388"/>
            </a:avLst>
          </a:prstGeom>
          <a:solidFill>
            <a:srgbClr val="1F2C3A"/>
          </a:solidFill>
          <a:ln w="12700">
            <a:solidFill>
              <a:srgbClr val="3143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468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Probamos contra trabajos que ya hicieron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06324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C3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semana 4 corremos el anidado automático sobre presupuestos reales que ustedes ya cotizaron y comparamos el aprovechamiento.</a:t>
            </a:r>
            <a:endParaRPr lang="en-US" sz="14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ahorro de material no se nota, lo ajustamos en el momento — antes de seguir construyendo encima.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583680" y="2148840"/>
            <a:ext cx="4919472" cy="3063240"/>
          </a:xfrm>
          <a:prstGeom prst="roundRect">
            <a:avLst>
              <a:gd name="adj" fmla="val 2388"/>
            </a:avLst>
          </a:prstGeom>
          <a:solidFill>
            <a:srgbClr val="1F2C3A"/>
          </a:solidFill>
          <a:ln w="12700">
            <a:solidFill>
              <a:srgbClr val="3143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95160" y="2468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Letras corpóreas y formas curvas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995160" y="3063240"/>
            <a:ext cx="4114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C3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en el relevamiento de la semana 1 vemos que buena parte de lo que cortan son formas irregulares y no paneles rectos, el anidado para esos casos se suma como una segunda etapa, después de estos dos meses.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vamos a saber en la primera semana y lo conversamos apenas lo sepamos.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5440680"/>
            <a:ext cx="10820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8C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Conviene resolver primero lo que aplica a la mayoría del trabajo.</a:t>
            </a:r>
            <a:endParaRPr lang="en-US" sz="13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necesitamos de ustedes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97280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esto no podemos probar el sistema contra la realidad de su taller.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3392424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78408" y="2011680"/>
            <a:ext cx="2807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SEMANA 1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978408" y="2377440"/>
            <a:ext cx="284378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precios actual por m² de cada material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 de planchas que compran, con medidas y espesores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material come el corte y qué margen dejan en el borde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 10 presupuestos ya hechos, con el detalle de cómo se armaron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aprueba cada presupuesto, y desde dónde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98264" y="1783080"/>
            <a:ext cx="3392424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90872" y="2011680"/>
            <a:ext cx="2807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LA SEMANA 6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690872" y="2377440"/>
            <a:ext cx="284378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par de archivos .cdr de ejemplo, de distinta complejidad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versión de CorelDRAW usan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diseño ordene los archivos en capas: nosotros damos la convención, ellos la aplican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10728" y="1783080"/>
            <a:ext cx="3392424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403336" y="2011680"/>
            <a:ext cx="2807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LA SEMANA 7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403336" y="2377440"/>
            <a:ext cx="284378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de los frentes de locales típicos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5349240"/>
            <a:ext cx="10820095" cy="960120"/>
          </a:xfrm>
          <a:prstGeom prst="roundRect">
            <a:avLst>
              <a:gd name="adj" fmla="val 7619"/>
            </a:avLst>
          </a:prstGeom>
          <a:solidFill>
            <a:srgbClr val="FBEFDC"/>
          </a:solidFill>
          <a:ln w="12700">
            <a:solidFill>
              <a:srgbClr val="F0DCB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5349240"/>
            <a:ext cx="99971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A5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resolver cuanto antes:  </a:t>
            </a:r>
            <a:r>
              <a:rPr lang="en-US" sz="1350" dirty="0">
                <a:solidFill>
                  <a:srgbClr val="7A5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van a mandar los presupuestos por WhatsApp, hay que iniciar el alta de WhatsApp Business ya mismo — el trámite tarda semanas. Arranca en paralelo desde el primer día; si no llega a tiempo, el Hito 2 sale igual por mail y WhatsApp se suma después.</a:t>
            </a:r>
            <a:endParaRPr lang="en-US" sz="13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no incluye esta primera etapa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97280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dejamos claro desde ahora para que no aparezca como sorpresa más adelante.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24865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" y="1975104"/>
            <a:ext cx="274320" cy="274320"/>
          </a:xfrm>
          <a:prstGeom prst="ellipse">
            <a:avLst/>
          </a:prstGeom>
          <a:solidFill>
            <a:srgbClr val="E3E9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" y="1975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344168" y="1783080"/>
            <a:ext cx="4334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y cobranzas — esto es un cotizador, no un sistema contable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54496" y="1783080"/>
            <a:ext cx="524865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10528" y="1975104"/>
            <a:ext cx="274320" cy="274320"/>
          </a:xfrm>
          <a:prstGeom prst="ellipse">
            <a:avLst/>
          </a:prstGeom>
          <a:solidFill>
            <a:srgbClr val="E3E9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10528" y="1975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912864" y="1783080"/>
            <a:ext cx="4334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stock real de material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2569464"/>
            <a:ext cx="524865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" y="2761488"/>
            <a:ext cx="274320" cy="274320"/>
          </a:xfrm>
          <a:prstGeom prst="ellipse">
            <a:avLst/>
          </a:prstGeom>
          <a:solidFill>
            <a:srgbClr val="E3E9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41832" y="2761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2569464"/>
            <a:ext cx="4334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de las órdenes dentro del taller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54496" y="2569464"/>
            <a:ext cx="524865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10528" y="2761488"/>
            <a:ext cx="274320" cy="274320"/>
          </a:xfrm>
          <a:prstGeom prst="ellipse">
            <a:avLst/>
          </a:prstGeom>
          <a:solidFill>
            <a:srgbClr val="E3E9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10528" y="2761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912864" y="2569464"/>
            <a:ext cx="4334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archivos para la máquina de corte — el sistema da el plano de corte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3355848"/>
            <a:ext cx="524865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1832" y="3547872"/>
            <a:ext cx="274320" cy="274320"/>
          </a:xfrm>
          <a:prstGeom prst="ellipse">
            <a:avLst/>
          </a:prstGeom>
          <a:solidFill>
            <a:srgbClr val="E3E9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41832" y="3547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344168" y="3355848"/>
            <a:ext cx="4334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para instalar en el celular — la aprobación va por navegador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54496" y="3355848"/>
            <a:ext cx="524865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10528" y="3547872"/>
            <a:ext cx="274320" cy="274320"/>
          </a:xfrm>
          <a:prstGeom prst="ellipse">
            <a:avLst/>
          </a:prstGeom>
          <a:solidFill>
            <a:srgbClr val="E3E9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10528" y="3547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912864" y="3355848"/>
            <a:ext cx="4334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 una sucursal o empresa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85800" y="4142232"/>
            <a:ext cx="524865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1832" y="4334256"/>
            <a:ext cx="274320" cy="274320"/>
          </a:xfrm>
          <a:prstGeom prst="ellipse">
            <a:avLst/>
          </a:prstGeom>
          <a:solidFill>
            <a:srgbClr val="E3E9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41832" y="4334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344168" y="4142232"/>
            <a:ext cx="4334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del historial de presupuestos viejos — el sistema arranca vacío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85800" y="5257800"/>
            <a:ext cx="10820095" cy="777240"/>
          </a:xfrm>
          <a:prstGeom prst="roundRect">
            <a:avLst>
              <a:gd name="adj" fmla="val 9412"/>
            </a:avLst>
          </a:prstGeom>
          <a:solidFill>
            <a:srgbClr val="1F2C3A"/>
          </a:solidFill>
          <a:ln w="12700">
            <a:solidFill>
              <a:srgbClr val="1F2C3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97280" y="5257800"/>
            <a:ext cx="99971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esto está descartado para más adelante — solo no es parte de estos dos meses.</a:t>
            </a:r>
            <a:endParaRPr lang="en-US" sz="14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trabajamos con ustedes en el camino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97280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sorpresas y sin apagar nada de un día para el otro.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24865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21408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103120"/>
            <a:ext cx="4059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Encuentros cortos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697480"/>
            <a:ext cx="4608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semana o cada dos, para mostrar avance y ajustar el rumbo.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54496" y="1828800"/>
            <a:ext cx="524865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74536" y="2121408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74536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123176" y="2103120"/>
            <a:ext cx="4059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datos de ustedes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574536" y="2697480"/>
            <a:ext cx="4608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hito se muestra funcionando con datos reales del taller, no inventados.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85800" y="3931920"/>
            <a:ext cx="524865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05840" y="4224528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4224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206240"/>
            <a:ext cx="4059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paralelo al método actual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4800600"/>
            <a:ext cx="4608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nuevo convive con la forma de trabajo de hoy hasta que confíen en los números.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54496" y="3931920"/>
            <a:ext cx="524865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74536" y="4224528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74536" y="4224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23176" y="4206240"/>
            <a:ext cx="4059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Nunca una caja negra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6574536" y="4800600"/>
            <a:ext cx="4608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se puede corregir a mano y siempre se ve cuál era el valor original.</a:t>
            </a:r>
            <a:endParaRPr lang="en-US" sz="13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Inversión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97280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paga por hito, contra la entrega de cada uno. No pedimos anticipo.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4480560" cy="2148840"/>
          </a:xfrm>
          <a:prstGeom prst="roundRect">
            <a:avLst>
              <a:gd name="adj" fmla="val 3404"/>
            </a:avLst>
          </a:prstGeom>
          <a:solidFill>
            <a:srgbClr val="141C26"/>
          </a:solidFill>
          <a:ln w="12700">
            <a:solidFill>
              <a:srgbClr val="141C26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9728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COMPLETO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3774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$2.000.000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argentinos (ARS)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4069080"/>
            <a:ext cx="44805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051560" y="4251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 está la mayor parte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457200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motor de anidado: el algoritmo que decide cómo ubicar cada forma sobre la plancha. Es el desarrollo técnico más complejo de estos dos meses, y es justo el problema que hoy más material les hace perder.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532120" y="1783080"/>
            <a:ext cx="5973775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blurRad="127000" dist="25400" dir="5400000" algn="bl" rotWithShape="0">
              <a:srgbClr val="9AA8B5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897880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549640" y="1965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9509760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97880" y="2304288"/>
            <a:ext cx="5242255" cy="18288"/>
          </a:xfrm>
          <a:prstGeom prst="rect">
            <a:avLst/>
          </a:prstGeom>
          <a:solidFill>
            <a:srgbClr val="E7ECF1"/>
          </a:solidFill>
          <a:ln w="9525">
            <a:solidFill>
              <a:srgbClr val="E7ECF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97880" y="2322576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1 — Cotizador con anidado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549640" y="232257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4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9235440" y="232257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$920.000   ·   46%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897880" y="2871216"/>
            <a:ext cx="5242255" cy="18288"/>
          </a:xfrm>
          <a:prstGeom prst="rect">
            <a:avLst/>
          </a:prstGeom>
          <a:solidFill>
            <a:srgbClr val="E7ECF1"/>
          </a:solidFill>
          <a:ln w="9525">
            <a:solidFill>
              <a:srgbClr val="E7ECF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897880" y="2889504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2 — Aprobación y envío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549640" y="2889504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5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9235440" y="288950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$230.000   ·   11,5%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897880" y="3438144"/>
            <a:ext cx="5242255" cy="18288"/>
          </a:xfrm>
          <a:prstGeom prst="rect">
            <a:avLst/>
          </a:prstGeom>
          <a:solidFill>
            <a:srgbClr val="E7ECF1"/>
          </a:solidFill>
          <a:ln w="9525">
            <a:solidFill>
              <a:srgbClr val="E7ECF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897880" y="345643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3 — Importación desde Corel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549640" y="345643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6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9235440" y="345643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$310.000   ·   15,5%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897880" y="4005072"/>
            <a:ext cx="5242255" cy="18288"/>
          </a:xfrm>
          <a:prstGeom prst="rect">
            <a:avLst/>
          </a:prstGeom>
          <a:solidFill>
            <a:srgbClr val="E7ECF1"/>
          </a:solidFill>
          <a:ln w="9525">
            <a:solidFill>
              <a:srgbClr val="E7ECF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897880" y="40233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rápido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549640" y="40233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6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9235440" y="40233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$270.000   ·   13,5%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4572000"/>
            <a:ext cx="5242255" cy="18288"/>
          </a:xfrm>
          <a:prstGeom prst="rect">
            <a:avLst/>
          </a:prstGeom>
          <a:solidFill>
            <a:srgbClr val="E7ECF1"/>
          </a:solidFill>
          <a:ln w="9525">
            <a:solidFill>
              <a:srgbClr val="E7ECF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897880" y="459028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4 — Fotomontaje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549640" y="459028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7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9235440" y="459028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$270.000   ·   13,5%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5157216"/>
            <a:ext cx="5242255" cy="548640"/>
          </a:xfrm>
          <a:prstGeom prst="roundRect">
            <a:avLst>
              <a:gd name="adj" fmla="val 10000"/>
            </a:avLst>
          </a:prstGeom>
          <a:solidFill>
            <a:srgbClr val="FBEFDC"/>
          </a:solidFill>
          <a:ln w="12700">
            <a:solidFill>
              <a:srgbClr val="F0DCB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126480" y="515721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5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8275320" y="5157216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7A5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$2.000.000   ·   100%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85800" y="598932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Aparte del desarrollo: hosting, dominio, WhatsApp Business API y el servicio de IA del fotomontaje corren por cuenta de la empresa. Nosotros los dejamos configurados.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C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005840"/>
            <a:ext cx="3657600" cy="3657600"/>
          </a:xfrm>
          <a:prstGeom prst="ellipse">
            <a:avLst/>
          </a:prstGeom>
          <a:solidFill>
            <a:srgbClr val="E8A33D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77724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pasos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hace falta para arrancar la semana que viene.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2551176" cy="2286000"/>
          </a:xfrm>
          <a:prstGeom prst="roundRect">
            <a:avLst>
              <a:gd name="adj" fmla="val 3200"/>
            </a:avLst>
          </a:prstGeom>
          <a:solidFill>
            <a:srgbClr val="1F2C3A"/>
          </a:solidFill>
          <a:ln w="12700">
            <a:solidFill>
              <a:srgbClr val="31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8408" y="2423160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78408" y="2423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926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Confirman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78408" y="3310128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dan el OK para arrancar.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502152" y="2148840"/>
            <a:ext cx="2551176" cy="2286000"/>
          </a:xfrm>
          <a:prstGeom prst="roundRect">
            <a:avLst>
              <a:gd name="adj" fmla="val 3200"/>
            </a:avLst>
          </a:prstGeom>
          <a:solidFill>
            <a:srgbClr val="1F2C3A"/>
          </a:solidFill>
          <a:ln w="12700">
            <a:solidFill>
              <a:srgbClr val="3143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0" y="2423160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94760" y="2423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794760" y="2926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Coordinamos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794760" y="3310128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encuentros cortos la primera semana: dueño y administración, encargado de taller, y diseño. No más de un par de horas en total.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18504" y="2148840"/>
            <a:ext cx="2551176" cy="2286000"/>
          </a:xfrm>
          <a:prstGeom prst="roundRect">
            <a:avLst>
              <a:gd name="adj" fmla="val 3200"/>
            </a:avLst>
          </a:prstGeom>
          <a:solidFill>
            <a:srgbClr val="1F2C3A"/>
          </a:solidFill>
          <a:ln w="12700">
            <a:solidFill>
              <a:srgbClr val="3143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11112" y="2423160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11112" y="2423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11112" y="2926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datos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611112" y="3310128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acercan la lista de precios, los formatos de plancha y los presupuestos de ejemplo.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134856" y="2148840"/>
            <a:ext cx="2551176" cy="2286000"/>
          </a:xfrm>
          <a:prstGeom prst="roundRect">
            <a:avLst>
              <a:gd name="adj" fmla="val 3200"/>
            </a:avLst>
          </a:prstGeom>
          <a:solidFill>
            <a:srgbClr val="1F2C3A"/>
          </a:solidFill>
          <a:ln w="12700">
            <a:solidFill>
              <a:srgbClr val="3143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27464" y="2423160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427464" y="2423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427464" y="2926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Arrancamos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9427464" y="3310128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1: relevamiento y ambiente técnico listo.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85800" y="4846320"/>
            <a:ext cx="10820095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97280" y="4983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Confirmación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53949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y cargo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097280" y="5806440"/>
            <a:ext cx="3291840" cy="12802"/>
          </a:xfrm>
          <a:prstGeom prst="rect">
            <a:avLst/>
          </a:prstGeom>
          <a:solidFill>
            <a:srgbClr val="B9C4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846320" y="53949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846320" y="5806440"/>
            <a:ext cx="2651760" cy="12802"/>
          </a:xfrm>
          <a:prstGeom prst="rect">
            <a:avLst/>
          </a:prstGeom>
          <a:solidFill>
            <a:srgbClr val="B9C4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863840" y="53949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para arrancar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863840" y="5806440"/>
            <a:ext cx="3291840" cy="12802"/>
          </a:xfrm>
          <a:prstGeom prst="rect">
            <a:avLst/>
          </a:prstGeom>
          <a:solidFill>
            <a:srgbClr val="B9C4CE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1762</Words>
  <Application>Microsoft Office PowerPoint</Application>
  <PresentationFormat>Panorámica</PresentationFormat>
  <Paragraphs>222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de trabajo: presupuestos, anidado automatico y aprobacion</dc:title>
  <dc:subject>PptxGenJS Presentation</dc:subject>
  <dc:creator>Enzo Pazzelli y Vale</dc:creator>
  <cp:lastModifiedBy>Enzo Jose Pazzelli</cp:lastModifiedBy>
  <cp:revision>2</cp:revision>
  <dcterms:created xsi:type="dcterms:W3CDTF">2026-08-31T22:36:24Z</dcterms:created>
  <dcterms:modified xsi:type="dcterms:W3CDTF">2026-08-31T22:39:05Z</dcterms:modified>
</cp:coreProperties>
</file>