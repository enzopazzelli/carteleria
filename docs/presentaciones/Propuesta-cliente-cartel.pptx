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409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propuesta. Objetivo del encuentro: revisarla juntos y obtener la confirmación para arrancar. Completar el nombre de la empresa antes de 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con el cliente que el orden de prioridad es correcto antes de avanzar.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pedir la confirmación en la reunión y dejar agendados los tres encuentros de la semana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-1234440"/>
            <a:ext cx="4206240" cy="4206240"/>
          </a:xfrm>
          <a:prstGeom prst="ellipse">
            <a:avLst/>
          </a:prstGeom>
          <a:solidFill>
            <a:srgbClr val="E8A33D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480560"/>
            <a:ext cx="2926080" cy="2926080"/>
          </a:xfrm>
          <a:prstGeom prst="ellipse">
            <a:avLst/>
          </a:prstGeom>
          <a:solidFill>
            <a:srgbClr val="E8A33D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TRABAJO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8503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Presupuestos, anidado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automático y aprobación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que arma la cotización, acomoda solo las piezas sobre la chapa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llega aprobada al cliente. En dos meses, por etapas.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074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3492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Anibal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Dumit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Megacarteles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5074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53492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Vale y Enzo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7269480" y="5074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53492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septiembre de 2026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nos plantearon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puntos concretos, en el orden en que más pesan hoy.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39242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4884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88920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Presupuestar tarda demasiado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38328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cotización se arma a mano, de cero, cada vez.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98264" y="1828800"/>
            <a:ext cx="339242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8304" y="214884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830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18304" y="2788920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material se desperdicia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18304" y="338328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acomoda las piezas sobre la plancha a ojo, y eso deja chapa sin usar que se paga igual.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10728" y="1828800"/>
            <a:ext cx="339242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0768" y="214884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3076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2788920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dashboard actual es lento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338328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Funciona, pero consultarlo todos los días se hace pesado.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4846320"/>
            <a:ext cx="10820095" cy="1051560"/>
          </a:xfrm>
          <a:prstGeom prst="roundRect">
            <a:avLst>
              <a:gd name="adj" fmla="val 6957"/>
            </a:avLst>
          </a:prstGeom>
          <a:solidFill>
            <a:srgbClr val="FBEFDC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4846320"/>
            <a:ext cx="99971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5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2 es el que más impacta el bolsillo: cada punto de aprovechamiento que se gana es chapa que no hace falta comprar.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les proponemos construir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circuito, desde que se carga el diseño hasta que el presupuesto llega al cliente.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05740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90472" y="203911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del diseño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532888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diseñador carga las piezas del cartel, o las importa directo desde CorelDRAW.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1783080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05740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9087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02936" y="203911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Anidado automático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2532888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acomoda solo las piezas sobre la chapa, probando entre los formatos que ustedes compran.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0728" y="1783080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3336" y="205740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333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03911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Cotización completa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2532888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el presupuesto con su tabla de precios: material, mano de obra, estructura, instalación.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3858768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408" y="4133088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90472" y="411480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Aprobación del dueño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4608576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 desde el celular, con un toque, sin instalar nada.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98264" y="3858768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4133088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90872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202936" y="411480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Envío automático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690872" y="4608576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solo al cliente por mail o WhatsApp, con desglose de costos y el fotomontaje.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0728" y="3858768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03336" y="4133088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03336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411480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nuevo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403336" y="4608576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Reemplazamos el actual por uno que responde al instante, sobre las mismas tablas de hoy.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calcula el sistema se puede corregir a mano, siempre.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aclaraciones importantes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no queden dudas sobre cómo funciona el sistema.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945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762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fotomontaje es real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7889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Tomamos el diseño real del cartel — el mismo que ya cargaron en el sistema — y lo calzamos sobre la foto del frente respetando la perspectiva.</a:t>
            </a:r>
            <a:endParaRPr lang="en-US" sz="1400" dirty="0"/>
          </a:p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se usa solo para retocar luz y sombra, nunca para “dibujar” el cartel.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el cliente ve exactamente su cartel, con su tipografía y su marca, no una aproximación.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4919472" cy="3566160"/>
          </a:xfrm>
          <a:prstGeom prst="roundRect">
            <a:avLst>
              <a:gd name="adj" fmla="val 2051"/>
            </a:avLst>
          </a:prstGeom>
          <a:solidFill>
            <a:srgbClr val="1F2C3A"/>
          </a:solidFill>
          <a:ln w="12700">
            <a:solidFill>
              <a:srgbClr val="1F2C3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95160" y="21945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9516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21762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cambia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78892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sigue revisando y aprobando cada presupuesto.</a:t>
            </a:r>
            <a:endParaRPr lang="en-US" sz="1400" dirty="0"/>
          </a:p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no es algo que el sistema le saca: es el control de calidad del negocio.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hacemos más rápido, no lo salteamos.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ganan con esto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concretos, medibles contra cómo trabajan hoy.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41832" y="219456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Minutos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306324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horas para armar un presupuesto.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71216" y="187452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127248" y="219456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chapa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127248" y="306324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desperdiciada: plata directa en cada plancha que no se compra de más.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56632" y="187452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312664" y="219456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espera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312664" y="306324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aprobación: un toque desde el celular, estén donde estén.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42048" y="187452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0" y="219456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instante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306324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dashboard que responde sin hacer esperar.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27464" y="187452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83496" y="219456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Siempre editable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683496" y="306324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número del sistema se corrige a mano.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709160"/>
            <a:ext cx="10820095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97280" y="4709160"/>
            <a:ext cx="9997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arrancar medimos cuánto tardan hoy en armar un presupuesto y cuánto rinde el método actual. </a:t>
            </a:r>
            <a:r>
              <a:rPr lang="en-US" sz="14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en la semana 4 les mostramos la mejora con números propios, no con una promesa genérica.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reciben: plan de 2 meses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 en etapas que ya se pueden usar apenas están listas, no todo junto al final.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EAEEF2"/>
          </a:solidFill>
          <a:ln w="12700">
            <a:solidFill>
              <a:srgbClr val="E0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888236"/>
            <a:ext cx="365760" cy="365760"/>
          </a:xfrm>
          <a:prstGeom prst="ellipse">
            <a:avLst/>
          </a:prstGeom>
          <a:solidFill>
            <a:srgbClr val="C6D0D9"/>
          </a:solidFill>
          <a:ln w="12700">
            <a:solidFill>
              <a:srgbClr val="C6D0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18882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99032" y="1783080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783080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 con ustedes y ambiente técnico listo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441448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86968" y="2546604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25466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99032" y="2441448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1 — Cotizador con anidado automático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441448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Cargan las piezas, el sistema arma el anidado, dice cuántas planchas hacen falta y el % de aprovechamiento, y genera el presupuesto en PDF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099816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3204972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320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99032" y="3099816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2 — Aprobación y envío automático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3099816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aprueba desde el celular; al aprobar, el presupuesto sale solo al cliente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758184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6968" y="386334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99032" y="3758184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3 — Importación desde CorelDRAW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758184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sale de Corel y entra al sistema sin cargar medidas a mano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4416552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86968" y="4521708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6968" y="45217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99032" y="4416552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rápido (en paralelo)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4416552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Reemplazo del dashboard actual, mismas tablas, respuesta instantánea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5074920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86968" y="5180076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6968" y="51800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399032" y="5074920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4 — Fotomontaje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5394960" y="5074920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incluye la foto del cartel montado en el frente real del local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" y="5733288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EAEEF2"/>
          </a:solidFill>
          <a:ln w="12700">
            <a:solidFill>
              <a:srgbClr val="E0E6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6968" y="5838444"/>
            <a:ext cx="365760" cy="365760"/>
          </a:xfrm>
          <a:prstGeom prst="ellipse">
            <a:avLst/>
          </a:prstGeom>
          <a:solidFill>
            <a:srgbClr val="C6D0D9"/>
          </a:solidFill>
          <a:ln w="12700">
            <a:solidFill>
              <a:srgbClr val="C6D0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86968" y="58384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399032" y="5733288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5394960" y="5733288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con datos reales, ajustes finos y sistema funcionando en producción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291840" cy="3291840"/>
          </a:xfrm>
          <a:prstGeom prst="ellipse">
            <a:avLst/>
          </a:prstGeom>
          <a:solidFill>
            <a:srgbClr val="E8A33D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semana 4 es un punto de control real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les pedimos confianza a ciegas: hay un momento fijado para verificar el ahorro.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532120" cy="3063240"/>
          </a:xfrm>
          <a:prstGeom prst="roundRect">
            <a:avLst>
              <a:gd name="adj" fmla="val 2388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Probamos contra trabajos que ya hicieron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0632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semana 4 corremos el anidado automático sobre presupuestos reales que ustedes ya cotizaron y comparamos el aprovechamiento.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ahorro de material no se nota, lo ajustamos en el momento — antes de seguir construyendo encima.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83680" y="2148840"/>
            <a:ext cx="4919472" cy="3063240"/>
          </a:xfrm>
          <a:prstGeom prst="roundRect">
            <a:avLst>
              <a:gd name="adj" fmla="val 2388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9516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Letras corpóreas y formas curvas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306324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 el relevamiento de la semana 1 vemos que buena parte de lo que cortan son formas irregulares y no paneles rectos, el anidado para esos casos se suma como una segunda etapa, después de estos dos meses.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vamos a saber en la primera semana y lo conversamos apenas lo sepamos.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44068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resolver primero lo que aplica a la mayoría del trabajo.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necesitamos de ustedes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esto no podemos probar el sistema contra la realidad de su taller.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392424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78408" y="2011680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SEMANA 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377440"/>
            <a:ext cx="28437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precios actual por m² de cada material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planchas que compran, con medidas y espesores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material come el corte y qué margen dejan en el borde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 10 presupuestos ya hechos, con el detalle de cómo se armaron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aprueba cada presupuesto, y desde dónde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98264" y="1783080"/>
            <a:ext cx="3392424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90872" y="2011680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SEMANA 6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690872" y="2377440"/>
            <a:ext cx="28437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 de archivos .cdr de ejemplo, de distinta complejidad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versión de CorelDRAW usan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diseño ordene los archivos en capas: nosotros damos la convención, ellos la aplican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10728" y="1783080"/>
            <a:ext cx="3392424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03336" y="2011680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SEMANA 7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403336" y="2377440"/>
            <a:ext cx="28437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los frentes de locales típicos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5349240"/>
            <a:ext cx="10820095" cy="960120"/>
          </a:xfrm>
          <a:prstGeom prst="roundRect">
            <a:avLst>
              <a:gd name="adj" fmla="val 7619"/>
            </a:avLst>
          </a:prstGeom>
          <a:solidFill>
            <a:srgbClr val="FBEFDC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5349240"/>
            <a:ext cx="9997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5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resolver cuanto antes:  </a:t>
            </a:r>
            <a:r>
              <a:rPr lang="en-US" sz="1350" dirty="0">
                <a:solidFill>
                  <a:srgbClr val="7A5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van a mandar los presupuestos por WhatsApp, hay que iniciar el alta de WhatsApp Business ya mismo — el trámite tarda semanas. Arranca en paralelo desde el primer día; si no llega a tiempo, el Hito 2 sale igual por mail y WhatsApp se suma después.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no incluye esta primera etapa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dejamos claro desde ahora para que no aparezca como sorpresa más adelante.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975104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783080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y cobranzas — esto es un cotizador, no un sistema contable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4496" y="1783080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0528" y="1975104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0528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912864" y="1783080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stock real de material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569464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2761488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1832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2569464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las órdenes dentro del taller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54496" y="2569464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2761488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0528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12864" y="2569464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archivos para la máquina de corte — el sistema da el plano de corte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355848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" y="3547872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1832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344168" y="3355848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para instalar en el celular — la aprobación va por navegador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54496" y="3355848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3547872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10528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912864" y="3355848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una sucursal o empresa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4142232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4334256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1832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344168" y="4142232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del historial de presupuestos viejos — el sistema arranca vacío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" y="525780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1F2C3A"/>
          </a:solidFill>
          <a:ln w="12700">
            <a:solidFill>
              <a:srgbClr val="1F2C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97280" y="525780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esto está descartado para más adelante — solo no es parte de estos dos meses.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trabajamos con ustedes en el camino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sorpresas y sin apagar nada de un día para el otro.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486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2140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03120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Encuentros cortos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9748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semana o cada dos, para mostrar avance y ajustar el rumbo.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54496" y="1828800"/>
            <a:ext cx="52486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74536" y="212140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74536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23176" y="2103120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datos de ustedes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74536" y="269748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hito se muestra funcionando con datos reales del taller, no inventados.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3931920"/>
            <a:ext cx="52486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22452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06240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paralelo al método actual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80060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nuevo convive con la forma de trabajo de hoy hasta que confíen en los números.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54496" y="3931920"/>
            <a:ext cx="52486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74536" y="422452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74536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23176" y="4206240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una caja negra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574536" y="480060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puede corregir a mano y siempre se ve cuál era el valor original.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por hito, contra la entrega de cada uno. No pedimos anticipo.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480560" cy="2148840"/>
          </a:xfrm>
          <a:prstGeom prst="roundRect">
            <a:avLst>
              <a:gd name="adj" fmla="val 3404"/>
            </a:avLst>
          </a:prstGeom>
          <a:solidFill>
            <a:srgbClr val="141C26"/>
          </a:solidFill>
          <a:ln w="12700">
            <a:solidFill>
              <a:srgbClr val="141C26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COMPLETO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77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$2.000.000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argentinos (ARS)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4069080"/>
            <a:ext cx="4480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51560" y="4251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está la mayor parte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5720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motor de anidado: el algoritmo que decide cómo ubicar cada forma sobre la plancha. Es el desarrollo técnico más complejo de estos dos meses, y es justo el problema que hoy más material les hace perder.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532120" y="1783080"/>
            <a:ext cx="5973775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89788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2304288"/>
            <a:ext cx="5242255" cy="18288"/>
          </a:xfrm>
          <a:prstGeom prst="rect">
            <a:avLst/>
          </a:prstGeom>
          <a:solidFill>
            <a:srgbClr val="E7ECF1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97880" y="232257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1 — Cotizador con anidado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232257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3225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$920.000   ·   46%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97880" y="2871216"/>
            <a:ext cx="5242255" cy="18288"/>
          </a:xfrm>
          <a:prstGeom prst="rect">
            <a:avLst/>
          </a:prstGeom>
          <a:solidFill>
            <a:srgbClr val="E7ECF1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97880" y="28895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2 — Aprobación y envío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288950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8895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$230.000   ·   11,5%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97880" y="3438144"/>
            <a:ext cx="5242255" cy="18288"/>
          </a:xfrm>
          <a:prstGeom prst="rect">
            <a:avLst/>
          </a:prstGeom>
          <a:solidFill>
            <a:srgbClr val="E7ECF1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97880" y="34564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3 — Importación desde Corel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549640" y="34564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34564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$310.000   ·   15,5%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4005072"/>
            <a:ext cx="5242255" cy="18288"/>
          </a:xfrm>
          <a:prstGeom prst="rect">
            <a:avLst/>
          </a:prstGeom>
          <a:solidFill>
            <a:srgbClr val="E7ECF1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97880" y="4023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rápido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549640" y="40233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$270.000   ·   13,5%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4572000"/>
            <a:ext cx="5242255" cy="18288"/>
          </a:xfrm>
          <a:prstGeom prst="rect">
            <a:avLst/>
          </a:prstGeom>
          <a:solidFill>
            <a:srgbClr val="E7ECF1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97880" y="45902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4 — Fotomontaje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549640" y="45902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235440" y="45902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$270.000   ·   13,5%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5157216"/>
            <a:ext cx="5242255" cy="548640"/>
          </a:xfrm>
          <a:prstGeom prst="roundRect">
            <a:avLst>
              <a:gd name="adj" fmla="val 10000"/>
            </a:avLst>
          </a:prstGeom>
          <a:solidFill>
            <a:srgbClr val="FBEFDC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26480" y="51572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515721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A5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$2.000.000   ·   100%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59893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Aparte del desarrollo: hosting, dominio, WhatsApp Business API y el servicio de IA del fotomontaje corren por cuenta de la empresa. Nosotros los dejamos configurados.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05840"/>
            <a:ext cx="3657600" cy="3657600"/>
          </a:xfrm>
          <a:prstGeom prst="ellipse">
            <a:avLst/>
          </a:prstGeom>
          <a:solidFill>
            <a:srgbClr val="E8A33D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falta para arrancar la semana que viene.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551176" cy="2286000"/>
          </a:xfrm>
          <a:prstGeom prst="roundRect">
            <a:avLst>
              <a:gd name="adj" fmla="val 3200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4231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331012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dan el OK para arrancar.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02152" y="2148840"/>
            <a:ext cx="2551176" cy="2286000"/>
          </a:xfrm>
          <a:prstGeom prst="roundRect">
            <a:avLst>
              <a:gd name="adj" fmla="val 3200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24231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Coordinamos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331012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encuentros cortos la primera semana: dueño y administración, encargado de taller, y diseño. No más de un par de horas en total.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18504" y="2148840"/>
            <a:ext cx="2551176" cy="2286000"/>
          </a:xfrm>
          <a:prstGeom prst="roundRect">
            <a:avLst>
              <a:gd name="adj" fmla="val 3200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11112" y="24231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11112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11112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331012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acercan la lista de precios, los formatos de plancha y los presupuestos de ejemplo.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2148840"/>
            <a:ext cx="2551176" cy="2286000"/>
          </a:xfrm>
          <a:prstGeom prst="roundRect">
            <a:avLst>
              <a:gd name="adj" fmla="val 3200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27464" y="24231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27464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427464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Arrancamos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427464" y="331012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1: relevamiento y ambiente técnico listo.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4846320"/>
            <a:ext cx="1082009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9728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Confirmación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394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cargo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97280" y="5806440"/>
            <a:ext cx="3291840" cy="12802"/>
          </a:xfrm>
          <a:prstGeom prst="rect">
            <a:avLst/>
          </a:prstGeom>
          <a:solidFill>
            <a:srgbClr val="B9C4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46320" y="5394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5806440"/>
            <a:ext cx="2651760" cy="12802"/>
          </a:xfrm>
          <a:prstGeom prst="rect">
            <a:avLst/>
          </a:prstGeom>
          <a:solidFill>
            <a:srgbClr val="B9C4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63840" y="5394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para arrancar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863840" y="5806440"/>
            <a:ext cx="3291840" cy="12802"/>
          </a:xfrm>
          <a:prstGeom prst="rect">
            <a:avLst/>
          </a:prstGeom>
          <a:solidFill>
            <a:srgbClr val="B9C4CE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1596</Words>
  <Application>Microsoft Office PowerPoint</Application>
  <PresentationFormat>Panorámica</PresentationFormat>
  <Paragraphs>208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trabajo: presupuestos, anidado automatico y aprobacion</dc:title>
  <dc:subject>PptxGenJS Presentation</dc:subject>
  <dc:creator>Enzo Pazzelli y Vale</dc:creator>
  <cp:lastModifiedBy>Enzo Jose Pazzelli</cp:lastModifiedBy>
  <cp:revision>2</cp:revision>
  <dcterms:created xsi:type="dcterms:W3CDTF">2026-08-31T22:22:39Z</dcterms:created>
  <dcterms:modified xsi:type="dcterms:W3CDTF">2026-08-31T22:31:15Z</dcterms:modified>
</cp:coreProperties>
</file>